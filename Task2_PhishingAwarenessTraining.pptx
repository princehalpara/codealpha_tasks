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oboto" charset="1" panose="02000000000000000000"/>
      <p:regular r:id="rId19"/>
    </p:embeddedFont>
    <p:embeddedFont>
      <p:font typeface="Roboto Slab" charset="1" panose="00000000000000000000"/>
      <p:regular r:id="rId20"/>
    </p:embeddedFont>
    <p:embeddedFont>
      <p:font typeface="Roboto Bold" charset="1" panose="02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notesSlides/notesSlide7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9.png" Type="http://schemas.openxmlformats.org/officeDocument/2006/relationships/image"/><Relationship Id="rId6" Target="../media/image4.jpe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jpe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4.jpe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4.jpeg" Type="http://schemas.openxmlformats.org/officeDocument/2006/relationships/image"/><Relationship Id="rId6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3158128"/>
            <a:ext cx="4823517" cy="532800"/>
            <a:chOff x="0" y="0"/>
            <a:chExt cx="6431356" cy="710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31280" cy="710438"/>
            </a:xfrm>
            <a:custGeom>
              <a:avLst/>
              <a:gdLst/>
              <a:ahLst/>
              <a:cxnLst/>
              <a:rect r="r" b="b" t="t" l="l"/>
              <a:pathLst>
                <a:path h="710438" w="643128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6385941" y="0"/>
                  </a:lnTo>
                  <a:cubicBezTo>
                    <a:pt x="6410960" y="0"/>
                    <a:pt x="6431280" y="20320"/>
                    <a:pt x="6431280" y="45339"/>
                  </a:cubicBezTo>
                  <a:lnTo>
                    <a:pt x="6431280" y="665099"/>
                  </a:lnTo>
                  <a:cubicBezTo>
                    <a:pt x="6431280" y="690118"/>
                    <a:pt x="6410960" y="710438"/>
                    <a:pt x="6385941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D7DFF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62345" y="3166910"/>
            <a:ext cx="5397694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CODEALPHA CYBER SECURITY INTERNSHIP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3775767"/>
            <a:ext cx="9445523" cy="2474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8"/>
              </a:lnSpc>
            </a:pPr>
            <a:r>
              <a:rPr lang="en-US" sz="7122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Phishing Awareness Training</a:t>
            </a:r>
          </a:p>
          <a:p>
            <a:pPr algn="l">
              <a:lnSpc>
                <a:spcPts val="8888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579841"/>
            <a:ext cx="103599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Presenter: </a:t>
            </a:r>
            <a:r>
              <a:rPr lang="en-US" sz="2200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Prince Halpara</a:t>
            </a:r>
            <a:r>
              <a:rPr lang="en-US" sz="2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CodeAlpha Cyber Security Internship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87476" y="1298819"/>
            <a:ext cx="1558376" cy="561384"/>
            <a:chOff x="0" y="0"/>
            <a:chExt cx="2077834" cy="7485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7847" cy="748412"/>
            </a:xfrm>
            <a:custGeom>
              <a:avLst/>
              <a:gdLst/>
              <a:ahLst/>
              <a:cxnLst/>
              <a:rect r="r" b="b" t="t" l="l"/>
              <a:pathLst>
                <a:path h="748412" w="2077847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2031746" y="0"/>
                  </a:lnTo>
                  <a:cubicBezTo>
                    <a:pt x="2057273" y="0"/>
                    <a:pt x="2077847" y="20701"/>
                    <a:pt x="2077847" y="46101"/>
                  </a:cubicBezTo>
                  <a:lnTo>
                    <a:pt x="2077847" y="702310"/>
                  </a:lnTo>
                  <a:cubicBezTo>
                    <a:pt x="2077847" y="727837"/>
                    <a:pt x="2057146" y="748411"/>
                    <a:pt x="2031746" y="748411"/>
                  </a:cubicBezTo>
                  <a:lnTo>
                    <a:pt x="46101" y="748411"/>
                  </a:lnTo>
                  <a:cubicBezTo>
                    <a:pt x="20701" y="748538"/>
                    <a:pt x="0" y="727837"/>
                    <a:pt x="0" y="702310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090" r="0" b="-4103"/>
              </a:stretch>
            </a:blipFill>
            <a:ln w="9526" cap="sq">
              <a:solidFill>
                <a:srgbClr val="3257B8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171870" y="1321889"/>
            <a:ext cx="2103987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CHAPTER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1940271"/>
            <a:ext cx="80026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What Is Phishing?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3184769"/>
            <a:ext cx="944552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Phishing is a cyberattack where attackers disguise themselves as trusted entities to trick victims into revealing sensitive information — passwords, financial data, or login credentials.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238" y="4959848"/>
            <a:ext cx="4580934" cy="2096843"/>
            <a:chOff x="0" y="0"/>
            <a:chExt cx="6107913" cy="27957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07811" cy="2795778"/>
            </a:xfrm>
            <a:custGeom>
              <a:avLst/>
              <a:gdLst/>
              <a:ahLst/>
              <a:cxnLst/>
              <a:rect r="r" b="b" t="t" l="l"/>
              <a:pathLst>
                <a:path h="2795778" w="6107811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051169" y="0"/>
                  </a:lnTo>
                  <a:cubicBezTo>
                    <a:pt x="6082538" y="0"/>
                    <a:pt x="6107811" y="25400"/>
                    <a:pt x="6107811" y="56642"/>
                  </a:cubicBezTo>
                  <a:lnTo>
                    <a:pt x="6107811" y="2739136"/>
                  </a:lnTo>
                  <a:cubicBezTo>
                    <a:pt x="6107811" y="2770505"/>
                    <a:pt x="6082411" y="2795778"/>
                    <a:pt x="6051169" y="2795778"/>
                  </a:cubicBezTo>
                  <a:lnTo>
                    <a:pt x="56642" y="2795778"/>
                  </a:lnTo>
                  <a:cubicBezTo>
                    <a:pt x="25273" y="2795778"/>
                    <a:pt x="0" y="2770378"/>
                    <a:pt x="0" y="2739136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75750" y="5233835"/>
            <a:ext cx="3544043" cy="46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🎣</a:t>
            </a:r>
            <a:r>
              <a:rPr lang="en-US" sz="27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The Hook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5750" y="5770664"/>
            <a:ext cx="4013892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Fake emails, texts, or calls that appear legitimate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856684" y="4959848"/>
            <a:ext cx="4581077" cy="2096843"/>
            <a:chOff x="0" y="0"/>
            <a:chExt cx="6108103" cy="27957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08065" cy="2795778"/>
            </a:xfrm>
            <a:custGeom>
              <a:avLst/>
              <a:gdLst/>
              <a:ahLst/>
              <a:cxnLst/>
              <a:rect r="r" b="b" t="t" l="l"/>
              <a:pathLst>
                <a:path h="2795778" w="610806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051423" y="0"/>
                  </a:lnTo>
                  <a:cubicBezTo>
                    <a:pt x="6082792" y="0"/>
                    <a:pt x="6108065" y="25400"/>
                    <a:pt x="6108065" y="56642"/>
                  </a:cubicBezTo>
                  <a:lnTo>
                    <a:pt x="6108065" y="2739136"/>
                  </a:lnTo>
                  <a:cubicBezTo>
                    <a:pt x="6108065" y="2770505"/>
                    <a:pt x="6082665" y="2795778"/>
                    <a:pt x="6051423" y="2795778"/>
                  </a:cubicBezTo>
                  <a:lnTo>
                    <a:pt x="56642" y="2795778"/>
                  </a:lnTo>
                  <a:cubicBezTo>
                    <a:pt x="25273" y="2795778"/>
                    <a:pt x="0" y="2770378"/>
                    <a:pt x="0" y="2739136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140206" y="5233835"/>
            <a:ext cx="3544043" cy="46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🎯</a:t>
            </a:r>
            <a:r>
              <a:rPr lang="en-US" sz="27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The Target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40206" y="5770664"/>
            <a:ext cx="4014045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Individuals, employees, or entire organizations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238" y="7340203"/>
            <a:ext cx="9445523" cy="1643215"/>
            <a:chOff x="0" y="0"/>
            <a:chExt cx="12594031" cy="219095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593955" cy="2190877"/>
            </a:xfrm>
            <a:custGeom>
              <a:avLst/>
              <a:gdLst/>
              <a:ahLst/>
              <a:cxnLst/>
              <a:rect r="r" b="b" t="t" l="l"/>
              <a:pathLst>
                <a:path h="2190877" w="1259395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2537313" y="0"/>
                  </a:lnTo>
                  <a:cubicBezTo>
                    <a:pt x="12568682" y="0"/>
                    <a:pt x="12593955" y="25400"/>
                    <a:pt x="12593955" y="56642"/>
                  </a:cubicBezTo>
                  <a:lnTo>
                    <a:pt x="12593955" y="2134235"/>
                  </a:lnTo>
                  <a:cubicBezTo>
                    <a:pt x="12593955" y="2165604"/>
                    <a:pt x="12568555" y="2190877"/>
                    <a:pt x="12537313" y="2190877"/>
                  </a:cubicBezTo>
                  <a:lnTo>
                    <a:pt x="56642" y="2190877"/>
                  </a:lnTo>
                  <a:cubicBezTo>
                    <a:pt x="25273" y="2190877"/>
                    <a:pt x="0" y="2165477"/>
                    <a:pt x="0" y="2134235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75750" y="7614199"/>
            <a:ext cx="3544043" cy="46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💸</a:t>
            </a:r>
            <a:r>
              <a:rPr lang="en-US" sz="27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The Goal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5750" y="8151019"/>
            <a:ext cx="8878491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Steal data, money, or access to systems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9933" y="753370"/>
            <a:ext cx="1438570" cy="506616"/>
            <a:chOff x="0" y="0"/>
            <a:chExt cx="1918094" cy="6754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8208" cy="675513"/>
            </a:xfrm>
            <a:custGeom>
              <a:avLst/>
              <a:gdLst/>
              <a:ahLst/>
              <a:cxnLst/>
              <a:rect r="r" b="b" t="t" l="l"/>
              <a:pathLst>
                <a:path h="675513" w="1918208">
                  <a:moveTo>
                    <a:pt x="0" y="42672"/>
                  </a:moveTo>
                  <a:cubicBezTo>
                    <a:pt x="0" y="19050"/>
                    <a:pt x="19050" y="0"/>
                    <a:pt x="42672" y="0"/>
                  </a:cubicBezTo>
                  <a:lnTo>
                    <a:pt x="1875536" y="0"/>
                  </a:lnTo>
                  <a:cubicBezTo>
                    <a:pt x="1899031" y="0"/>
                    <a:pt x="1918208" y="19050"/>
                    <a:pt x="1918208" y="42672"/>
                  </a:cubicBezTo>
                  <a:lnTo>
                    <a:pt x="1918208" y="632841"/>
                  </a:lnTo>
                  <a:cubicBezTo>
                    <a:pt x="1918208" y="656336"/>
                    <a:pt x="1899158" y="675513"/>
                    <a:pt x="1875536" y="675513"/>
                  </a:cubicBezTo>
                  <a:lnTo>
                    <a:pt x="42672" y="675513"/>
                  </a:lnTo>
                  <a:cubicBezTo>
                    <a:pt x="19050" y="675513"/>
                    <a:pt x="0" y="656463"/>
                    <a:pt x="0" y="63284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8" r="5" b="-5325"/>
              </a:stretch>
            </a:blipFill>
            <a:ln w="9526" cap="sq">
              <a:solidFill>
                <a:srgbClr val="3257B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80935" y="779269"/>
            <a:ext cx="2010966" cy="38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1600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CHAPTER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695" y="1322937"/>
            <a:ext cx="9446714" cy="84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51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Why Phishing Is Dangerous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695" y="2453430"/>
            <a:ext cx="17373000" cy="47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Phishing is the #1 entry point for cyberattacks. A single click can trigger a chain reaction of damage.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695" y="3475882"/>
            <a:ext cx="8078686" cy="71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3"/>
              </a:lnSpc>
            </a:pPr>
            <a:r>
              <a:rPr lang="en-US" sz="67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91%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20358" y="4497438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Of Cyberattacks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695" y="4983509"/>
            <a:ext cx="8078686" cy="47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2"/>
              </a:lnSpc>
            </a:pPr>
            <a:r>
              <a:rPr lang="en-US" sz="20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Begin with a phishing email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4466" y="3475882"/>
            <a:ext cx="8078838" cy="71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3"/>
              </a:lnSpc>
            </a:pPr>
            <a:r>
              <a:rPr lang="en-US" sz="67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$4.9M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00272" y="4497438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Average Breach Cost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94466" y="4983509"/>
            <a:ext cx="8078838" cy="47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2"/>
              </a:lnSpc>
            </a:pPr>
            <a:r>
              <a:rPr lang="en-US" sz="20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Global average cost per data breach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695" y="6216853"/>
            <a:ext cx="8078686" cy="71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3"/>
              </a:lnSpc>
            </a:pPr>
            <a:r>
              <a:rPr lang="en-US" sz="67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300K+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20358" y="7238409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Phishing Sites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695" y="7724480"/>
            <a:ext cx="8078686" cy="47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2"/>
              </a:lnSpc>
            </a:pPr>
            <a:r>
              <a:rPr lang="en-US" sz="20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Created every month worldwide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94466" y="6216853"/>
            <a:ext cx="8078838" cy="71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3"/>
              </a:lnSpc>
            </a:pPr>
            <a:r>
              <a:rPr lang="en-US" sz="67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1.2M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00272" y="7238409"/>
            <a:ext cx="3267227" cy="41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Attacks Per Day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94466" y="7724480"/>
            <a:ext cx="8078838" cy="47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2"/>
              </a:lnSpc>
            </a:pPr>
            <a:r>
              <a:rPr lang="en-US" sz="20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Phishing attempts launched globally each day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4695" y="8473383"/>
            <a:ext cx="16458600" cy="1055494"/>
            <a:chOff x="0" y="0"/>
            <a:chExt cx="21944800" cy="14073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4837" cy="1407414"/>
            </a:xfrm>
            <a:custGeom>
              <a:avLst/>
              <a:gdLst/>
              <a:ahLst/>
              <a:cxnLst/>
              <a:rect r="r" b="b" t="t" l="l"/>
              <a:pathLst>
                <a:path h="1407414" w="21944837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21892513" y="0"/>
                  </a:lnTo>
                  <a:cubicBezTo>
                    <a:pt x="21921343" y="0"/>
                    <a:pt x="21944837" y="23368"/>
                    <a:pt x="21944837" y="52324"/>
                  </a:cubicBezTo>
                  <a:lnTo>
                    <a:pt x="21944837" y="1355090"/>
                  </a:lnTo>
                  <a:cubicBezTo>
                    <a:pt x="21944837" y="1383919"/>
                    <a:pt x="21921470" y="1407414"/>
                    <a:pt x="21892513" y="1407414"/>
                  </a:cubicBezTo>
                  <a:lnTo>
                    <a:pt x="52324" y="1407414"/>
                  </a:lnTo>
                  <a:cubicBezTo>
                    <a:pt x="23495" y="1407414"/>
                    <a:pt x="0" y="1384046"/>
                    <a:pt x="0" y="1355090"/>
                  </a:cubicBezTo>
                  <a:close/>
                </a:path>
              </a:pathLst>
            </a:custGeom>
            <a:solidFill>
              <a:srgbClr val="FCF2B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76042" y="8857059"/>
            <a:ext cx="326679" cy="261337"/>
            <a:chOff x="0" y="0"/>
            <a:chExt cx="435572" cy="34845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435610" cy="348488"/>
            </a:xfrm>
            <a:custGeom>
              <a:avLst/>
              <a:gdLst/>
              <a:ahLst/>
              <a:cxnLst/>
              <a:rect r="r" b="b" t="t" l="l"/>
              <a:pathLst>
                <a:path h="348488" w="435610">
                  <a:moveTo>
                    <a:pt x="0" y="0"/>
                  </a:moveTo>
                  <a:lnTo>
                    <a:pt x="435610" y="0"/>
                  </a:lnTo>
                  <a:lnTo>
                    <a:pt x="435610" y="348488"/>
                  </a:lnTo>
                  <a:lnTo>
                    <a:pt x="0" y="34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0" t="0" r="-361" b="1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764059" y="8703469"/>
            <a:ext cx="16262299" cy="47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Impact areas include financial loss, identity theft, data theft, account compromise, and severe business disruption.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9911" y="645319"/>
            <a:ext cx="1199702" cy="403917"/>
            <a:chOff x="0" y="0"/>
            <a:chExt cx="1599603" cy="5385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9565" cy="538480"/>
            </a:xfrm>
            <a:custGeom>
              <a:avLst/>
              <a:gdLst/>
              <a:ahLst/>
              <a:cxnLst/>
              <a:rect r="r" b="b" t="t" l="l"/>
              <a:pathLst>
                <a:path h="538480" w="1599565">
                  <a:moveTo>
                    <a:pt x="0" y="35560"/>
                  </a:moveTo>
                  <a:cubicBezTo>
                    <a:pt x="0" y="15875"/>
                    <a:pt x="15875" y="0"/>
                    <a:pt x="35560" y="0"/>
                  </a:cubicBezTo>
                  <a:lnTo>
                    <a:pt x="1564005" y="0"/>
                  </a:lnTo>
                  <a:cubicBezTo>
                    <a:pt x="1583690" y="0"/>
                    <a:pt x="1599565" y="15875"/>
                    <a:pt x="1599565" y="35560"/>
                  </a:cubicBezTo>
                  <a:lnTo>
                    <a:pt x="1599565" y="502920"/>
                  </a:lnTo>
                  <a:cubicBezTo>
                    <a:pt x="1599565" y="522605"/>
                    <a:pt x="1583690" y="538480"/>
                    <a:pt x="1564005" y="538480"/>
                  </a:cubicBezTo>
                  <a:lnTo>
                    <a:pt x="35560" y="538480"/>
                  </a:lnTo>
                  <a:cubicBezTo>
                    <a:pt x="15875" y="538480"/>
                    <a:pt x="0" y="522605"/>
                    <a:pt x="0" y="50292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74" r="-2" b="-7889"/>
              </a:stretch>
            </a:blipFill>
            <a:ln w="9526" cap="sq">
              <a:solidFill>
                <a:srgbClr val="3257B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794424" y="696068"/>
            <a:ext cx="1825076" cy="27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sz="1300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CHAPTER 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4673" y="1101328"/>
            <a:ext cx="7634288" cy="68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Types of Phishing Attacks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4673" y="4571848"/>
            <a:ext cx="7224417" cy="66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Attackers use many channels to reach you. Knowing each type helps you stay protected across every platform.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4673" y="5334591"/>
            <a:ext cx="7224417" cy="181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2407"/>
              </a:lnSpc>
              <a:buFont typeface="Arial"/>
              <a:buChar char="•"/>
            </a:pPr>
            <a:r>
              <a:rPr lang="en-US" b="true" sz="1700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Email Phishing</a:t>
            </a:r>
            <a:r>
              <a:rPr lang="en-US" sz="1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Mass fake emails sent to thousands of victims</a:t>
            </a:r>
          </a:p>
          <a:p>
            <a:pPr algn="l" marL="410210" indent="-205105" lvl="1">
              <a:lnSpc>
                <a:spcPts val="2407"/>
              </a:lnSpc>
              <a:buFont typeface="Arial"/>
              <a:buChar char="•"/>
            </a:pPr>
            <a:r>
              <a:rPr lang="en-US" b="true" sz="1700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Spear Phishing</a:t>
            </a:r>
            <a:r>
              <a:rPr lang="en-US" sz="1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Targeted attacks aimed at specific individuals</a:t>
            </a:r>
          </a:p>
          <a:p>
            <a:pPr algn="l" marL="410210" indent="-205105" lvl="1">
              <a:lnSpc>
                <a:spcPts val="2407"/>
              </a:lnSpc>
              <a:buFont typeface="Arial"/>
              <a:buChar char="•"/>
            </a:pPr>
            <a:r>
              <a:rPr lang="en-US" b="true" sz="1700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Smishing</a:t>
            </a:r>
            <a:r>
              <a:rPr lang="en-US" sz="1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Phishing via SMS/text messages</a:t>
            </a:r>
          </a:p>
          <a:p>
            <a:pPr algn="l" marL="410210" indent="-205105" lvl="1">
              <a:lnSpc>
                <a:spcPts val="2407"/>
              </a:lnSpc>
              <a:buFont typeface="Arial"/>
              <a:buChar char="•"/>
            </a:pPr>
            <a:r>
              <a:rPr lang="en-US" b="true" sz="1700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Vishing</a:t>
            </a:r>
            <a:r>
              <a:rPr lang="en-US" sz="1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Phishing through voice calls</a:t>
            </a:r>
          </a:p>
          <a:p>
            <a:pPr algn="l" marL="410210" indent="-205105" lvl="1">
              <a:lnSpc>
                <a:spcPts val="2407"/>
              </a:lnSpc>
              <a:buFont typeface="Arial"/>
              <a:buChar char="•"/>
            </a:pPr>
            <a:r>
              <a:rPr lang="en-US" b="true" sz="1700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Fake Websites</a:t>
            </a:r>
            <a:r>
              <a:rPr lang="en-US" sz="1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Spoofed login pages designed to steal credentials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18139" y="2225431"/>
            <a:ext cx="7224417" cy="7224417"/>
            <a:chOff x="0" y="0"/>
            <a:chExt cx="9632556" cy="963255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9632569" cy="9632569"/>
            </a:xfrm>
            <a:custGeom>
              <a:avLst/>
              <a:gdLst/>
              <a:ahLst/>
              <a:cxnLst/>
              <a:rect r="r" b="b" t="t" l="l"/>
              <a:pathLst>
                <a:path h="9632569" w="9632569">
                  <a:moveTo>
                    <a:pt x="0" y="0"/>
                  </a:moveTo>
                  <a:lnTo>
                    <a:pt x="9632569" y="0"/>
                  </a:lnTo>
                  <a:lnTo>
                    <a:pt x="9632569" y="9632569"/>
                  </a:lnTo>
                  <a:lnTo>
                    <a:pt x="0" y="9632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418139" y="2225431"/>
            <a:ext cx="7224417" cy="7224417"/>
            <a:chOff x="0" y="0"/>
            <a:chExt cx="9632556" cy="9632556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9632569" cy="9632569"/>
            </a:xfrm>
            <a:custGeom>
              <a:avLst/>
              <a:gdLst/>
              <a:ahLst/>
              <a:cxnLst/>
              <a:rect r="r" b="b" t="t" l="l"/>
              <a:pathLst>
                <a:path h="9632569" w="9632569">
                  <a:moveTo>
                    <a:pt x="0" y="0"/>
                  </a:moveTo>
                  <a:lnTo>
                    <a:pt x="9632569" y="0"/>
                  </a:lnTo>
                  <a:lnTo>
                    <a:pt x="9632569" y="9632569"/>
                  </a:lnTo>
                  <a:lnTo>
                    <a:pt x="0" y="9632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7476" y="1444676"/>
            <a:ext cx="1558376" cy="561384"/>
            <a:chOff x="0" y="0"/>
            <a:chExt cx="2077834" cy="7485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7847" cy="748412"/>
            </a:xfrm>
            <a:custGeom>
              <a:avLst/>
              <a:gdLst/>
              <a:ahLst/>
              <a:cxnLst/>
              <a:rect r="r" b="b" t="t" l="l"/>
              <a:pathLst>
                <a:path h="748412" w="2077847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2031746" y="0"/>
                  </a:lnTo>
                  <a:cubicBezTo>
                    <a:pt x="2057273" y="0"/>
                    <a:pt x="2077847" y="20701"/>
                    <a:pt x="2077847" y="46101"/>
                  </a:cubicBezTo>
                  <a:lnTo>
                    <a:pt x="2077847" y="702310"/>
                  </a:lnTo>
                  <a:cubicBezTo>
                    <a:pt x="2077847" y="727837"/>
                    <a:pt x="2057146" y="748411"/>
                    <a:pt x="2031746" y="748411"/>
                  </a:cubicBezTo>
                  <a:lnTo>
                    <a:pt x="46101" y="748411"/>
                  </a:lnTo>
                  <a:cubicBezTo>
                    <a:pt x="20701" y="748538"/>
                    <a:pt x="0" y="727837"/>
                    <a:pt x="0" y="70231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0" r="0" b="-4103"/>
              </a:stretch>
            </a:blipFill>
            <a:ln w="9526" cap="sq">
              <a:solidFill>
                <a:srgbClr val="3257B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171870" y="1467745"/>
            <a:ext cx="2103987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CHAPTER 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086127"/>
            <a:ext cx="10799121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Recognizing Phishing Emails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330626"/>
            <a:ext cx="172179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Most phishing attempts arrive through email. Train yourself to spot these red flags before you click.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8150" y="4510535"/>
            <a:ext cx="5035601" cy="46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📧</a:t>
            </a:r>
            <a:r>
              <a:rPr lang="en-US" sz="27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Suspicious Sender Address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150" y="5047355"/>
            <a:ext cx="725239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Check the full email — attackers use addresses like support@paypa1.com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21606" y="4510535"/>
            <a:ext cx="5987806" cy="46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⚡</a:t>
            </a:r>
            <a:r>
              <a:rPr lang="en-US" sz="27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Urgent or Threatening Language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21606" y="5047355"/>
            <a:ext cx="7252545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"Your account will be suspended in 24 hours" — fear drives impulsive clicks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150" y="6976615"/>
            <a:ext cx="4998091" cy="46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🔗</a:t>
            </a:r>
            <a:r>
              <a:rPr lang="en-US" sz="27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Mismatched or Fake Links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8150" y="7513444"/>
            <a:ext cx="7252392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Hover over links to reveal the real URL before clicking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21606" y="6976615"/>
            <a:ext cx="4771282" cy="46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📎</a:t>
            </a:r>
            <a:r>
              <a:rPr lang="en-US" sz="27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Unexpected Attachments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21606" y="7513444"/>
            <a:ext cx="7252545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Never open attachments from unknown senders — they may contain malware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9911" y="630136"/>
            <a:ext cx="1199702" cy="403917"/>
            <a:chOff x="0" y="0"/>
            <a:chExt cx="1599603" cy="5385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9565" cy="538480"/>
            </a:xfrm>
            <a:custGeom>
              <a:avLst/>
              <a:gdLst/>
              <a:ahLst/>
              <a:cxnLst/>
              <a:rect r="r" b="b" t="t" l="l"/>
              <a:pathLst>
                <a:path h="538480" w="1599565">
                  <a:moveTo>
                    <a:pt x="0" y="35560"/>
                  </a:moveTo>
                  <a:cubicBezTo>
                    <a:pt x="0" y="15875"/>
                    <a:pt x="15875" y="0"/>
                    <a:pt x="35560" y="0"/>
                  </a:cubicBezTo>
                  <a:lnTo>
                    <a:pt x="1564005" y="0"/>
                  </a:lnTo>
                  <a:cubicBezTo>
                    <a:pt x="1583690" y="0"/>
                    <a:pt x="1599565" y="15875"/>
                    <a:pt x="1599565" y="35560"/>
                  </a:cubicBezTo>
                  <a:lnTo>
                    <a:pt x="1599565" y="502920"/>
                  </a:lnTo>
                  <a:cubicBezTo>
                    <a:pt x="1599565" y="522605"/>
                    <a:pt x="1583690" y="538480"/>
                    <a:pt x="1564005" y="538480"/>
                  </a:cubicBezTo>
                  <a:lnTo>
                    <a:pt x="35560" y="538480"/>
                  </a:lnTo>
                  <a:cubicBezTo>
                    <a:pt x="15875" y="538480"/>
                    <a:pt x="0" y="522605"/>
                    <a:pt x="0" y="50292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74" r="-2" b="-7889"/>
              </a:stretch>
            </a:blipFill>
            <a:ln w="9526" cap="sq">
              <a:solidFill>
                <a:srgbClr val="3257B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794424" y="680885"/>
            <a:ext cx="1825076" cy="27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sz="1300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CHAPTER 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4673" y="1086145"/>
            <a:ext cx="8131521" cy="68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Fake Websites &amp; URL Scams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54673" y="2210248"/>
            <a:ext cx="9550594" cy="5411991"/>
            <a:chOff x="0" y="0"/>
            <a:chExt cx="12734125" cy="721598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2734163" cy="7216013"/>
            </a:xfrm>
            <a:custGeom>
              <a:avLst/>
              <a:gdLst/>
              <a:ahLst/>
              <a:cxnLst/>
              <a:rect r="r" b="b" t="t" l="l"/>
              <a:pathLst>
                <a:path h="7216013" w="12734163">
                  <a:moveTo>
                    <a:pt x="0" y="0"/>
                  </a:moveTo>
                  <a:lnTo>
                    <a:pt x="12734163" y="0"/>
                  </a:lnTo>
                  <a:lnTo>
                    <a:pt x="12734163" y="7216013"/>
                  </a:lnTo>
                  <a:lnTo>
                    <a:pt x="0" y="721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2" t="0" r="-3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744325" y="4355754"/>
            <a:ext cx="4230891" cy="348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How URL Spoofing Works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44325" y="4822774"/>
            <a:ext cx="4898231" cy="66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Attackers create websites that look identical to real ones — but the URL tells the truth.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59971" y="7948460"/>
            <a:ext cx="6680149" cy="35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Look for HTTPS</a:t>
            </a:r>
            <a:r>
              <a:rPr lang="en-US" sz="1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but don't trust it alone; fake sites can have it too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53034" y="7948460"/>
            <a:ext cx="6680149" cy="363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Check the domain name</a:t>
            </a:r>
            <a:r>
              <a:rPr lang="en-US" sz="1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g00gle.com is not google.com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59971" y="8942632"/>
            <a:ext cx="6680149" cy="35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Verify the certificate</a:t>
            </a:r>
            <a:r>
              <a:rPr lang="en-US" sz="1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click the padlock icon in your browser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53034" y="8942632"/>
            <a:ext cx="6680149" cy="35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Bookmark official sites</a:t>
            </a:r>
            <a:r>
              <a:rPr lang="en-US" sz="1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avoid searching or clicking links to log in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5" id="5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77466" y="613324"/>
            <a:ext cx="1080049" cy="355702"/>
            <a:chOff x="0" y="0"/>
            <a:chExt cx="1440066" cy="4742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0053" cy="474218"/>
            </a:xfrm>
            <a:custGeom>
              <a:avLst/>
              <a:gdLst/>
              <a:ahLst/>
              <a:cxnLst/>
              <a:rect r="r" b="b" t="t" l="l"/>
              <a:pathLst>
                <a:path h="474218" w="1440053">
                  <a:moveTo>
                    <a:pt x="0" y="32004"/>
                  </a:moveTo>
                  <a:cubicBezTo>
                    <a:pt x="0" y="14351"/>
                    <a:pt x="14351" y="0"/>
                    <a:pt x="32004" y="0"/>
                  </a:cubicBezTo>
                  <a:lnTo>
                    <a:pt x="1408049" y="0"/>
                  </a:lnTo>
                  <a:cubicBezTo>
                    <a:pt x="1425702" y="0"/>
                    <a:pt x="1440053" y="14351"/>
                    <a:pt x="1440053" y="32004"/>
                  </a:cubicBezTo>
                  <a:lnTo>
                    <a:pt x="1440053" y="442214"/>
                  </a:lnTo>
                  <a:cubicBezTo>
                    <a:pt x="1440053" y="459867"/>
                    <a:pt x="1425702" y="474218"/>
                    <a:pt x="1408049" y="474218"/>
                  </a:cubicBezTo>
                  <a:lnTo>
                    <a:pt x="32004" y="474218"/>
                  </a:lnTo>
                  <a:cubicBezTo>
                    <a:pt x="14351" y="474218"/>
                    <a:pt x="0" y="459867"/>
                    <a:pt x="0" y="442214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165" r="0" b="-9175"/>
              </a:stretch>
            </a:blipFill>
            <a:ln w="9526" cap="sq">
              <a:solidFill>
                <a:srgbClr val="3257B8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808587" y="657377"/>
            <a:ext cx="1732207" cy="239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2"/>
              </a:lnSpc>
            </a:pPr>
            <a:r>
              <a:rPr lang="en-US" sz="1200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CHAPTER 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2228" y="998782"/>
            <a:ext cx="7045671" cy="62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8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Social Engineering Tactics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2228" y="1789662"/>
            <a:ext cx="10979944" cy="30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Phishing isn't just technical — it's psychological. Attackers exploit human emotions to bypass your defenses.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2228" y="2241652"/>
            <a:ext cx="10065544" cy="1756324"/>
            <a:chOff x="0" y="0"/>
            <a:chExt cx="13420725" cy="23417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20725" cy="2341753"/>
            </a:xfrm>
            <a:custGeom>
              <a:avLst/>
              <a:gdLst/>
              <a:ahLst/>
              <a:cxnLst/>
              <a:rect r="r" b="b" t="t" l="l"/>
              <a:pathLst>
                <a:path h="2341753" w="13420725">
                  <a:moveTo>
                    <a:pt x="0" y="38989"/>
                  </a:moveTo>
                  <a:cubicBezTo>
                    <a:pt x="0" y="17399"/>
                    <a:pt x="17399" y="0"/>
                    <a:pt x="38989" y="0"/>
                  </a:cubicBezTo>
                  <a:lnTo>
                    <a:pt x="13381737" y="0"/>
                  </a:lnTo>
                  <a:cubicBezTo>
                    <a:pt x="13403326" y="0"/>
                    <a:pt x="13420725" y="17399"/>
                    <a:pt x="13420725" y="38989"/>
                  </a:cubicBezTo>
                  <a:lnTo>
                    <a:pt x="13420725" y="2302764"/>
                  </a:lnTo>
                  <a:cubicBezTo>
                    <a:pt x="13420725" y="2324354"/>
                    <a:pt x="13403326" y="2341753"/>
                    <a:pt x="13381737" y="2341753"/>
                  </a:cubicBezTo>
                  <a:lnTo>
                    <a:pt x="38989" y="2341753"/>
                  </a:lnTo>
                  <a:cubicBezTo>
                    <a:pt x="17399" y="2341753"/>
                    <a:pt x="0" y="2324354"/>
                    <a:pt x="0" y="2302764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77043" y="2436466"/>
            <a:ext cx="584749" cy="584749"/>
            <a:chOff x="0" y="0"/>
            <a:chExt cx="779666" cy="779666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779653" cy="779653"/>
            </a:xfrm>
            <a:custGeom>
              <a:avLst/>
              <a:gdLst/>
              <a:ahLst/>
              <a:cxnLst/>
              <a:rect r="r" b="b" t="t" l="l"/>
              <a:pathLst>
                <a:path h="779653" w="779653">
                  <a:moveTo>
                    <a:pt x="0" y="0"/>
                  </a:moveTo>
                  <a:lnTo>
                    <a:pt x="779653" y="0"/>
                  </a:lnTo>
                  <a:lnTo>
                    <a:pt x="779653" y="779653"/>
                  </a:lnTo>
                  <a:lnTo>
                    <a:pt x="0" y="77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" b="-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77043" y="3145631"/>
            <a:ext cx="2436609" cy="31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Fear &amp; Urgency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7043" y="3501923"/>
            <a:ext cx="9675914" cy="30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"Act now or your account will be locked!"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82228" y="4131916"/>
            <a:ext cx="10065544" cy="1756324"/>
            <a:chOff x="0" y="0"/>
            <a:chExt cx="13420725" cy="23417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20725" cy="2341753"/>
            </a:xfrm>
            <a:custGeom>
              <a:avLst/>
              <a:gdLst/>
              <a:ahLst/>
              <a:cxnLst/>
              <a:rect r="r" b="b" t="t" l="l"/>
              <a:pathLst>
                <a:path h="2341753" w="13420725">
                  <a:moveTo>
                    <a:pt x="0" y="38989"/>
                  </a:moveTo>
                  <a:cubicBezTo>
                    <a:pt x="0" y="17399"/>
                    <a:pt x="17399" y="0"/>
                    <a:pt x="38989" y="0"/>
                  </a:cubicBezTo>
                  <a:lnTo>
                    <a:pt x="13381737" y="0"/>
                  </a:lnTo>
                  <a:cubicBezTo>
                    <a:pt x="13403326" y="0"/>
                    <a:pt x="13420725" y="17399"/>
                    <a:pt x="13420725" y="38989"/>
                  </a:cubicBezTo>
                  <a:lnTo>
                    <a:pt x="13420725" y="2302764"/>
                  </a:lnTo>
                  <a:cubicBezTo>
                    <a:pt x="13420725" y="2324354"/>
                    <a:pt x="13403326" y="2341753"/>
                    <a:pt x="13381737" y="2341753"/>
                  </a:cubicBezTo>
                  <a:lnTo>
                    <a:pt x="38989" y="2341753"/>
                  </a:lnTo>
                  <a:cubicBezTo>
                    <a:pt x="17399" y="2341753"/>
                    <a:pt x="0" y="2324354"/>
                    <a:pt x="0" y="2302764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77043" y="4326731"/>
            <a:ext cx="584749" cy="584749"/>
            <a:chOff x="0" y="0"/>
            <a:chExt cx="779666" cy="779666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779653" cy="779653"/>
            </a:xfrm>
            <a:custGeom>
              <a:avLst/>
              <a:gdLst/>
              <a:ahLst/>
              <a:cxnLst/>
              <a:rect r="r" b="b" t="t" l="l"/>
              <a:pathLst>
                <a:path h="779653" w="779653">
                  <a:moveTo>
                    <a:pt x="0" y="0"/>
                  </a:moveTo>
                  <a:lnTo>
                    <a:pt x="779653" y="0"/>
                  </a:lnTo>
                  <a:lnTo>
                    <a:pt x="779653" y="779653"/>
                  </a:lnTo>
                  <a:lnTo>
                    <a:pt x="0" y="77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-1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77043" y="5035896"/>
            <a:ext cx="2436609" cy="31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Trust &amp; Authority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77043" y="5392188"/>
            <a:ext cx="9675914" cy="30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Pretending to be IT support, a manager, or a bank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82228" y="6022181"/>
            <a:ext cx="10065544" cy="1756324"/>
            <a:chOff x="0" y="0"/>
            <a:chExt cx="13420725" cy="234176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20725" cy="2341753"/>
            </a:xfrm>
            <a:custGeom>
              <a:avLst/>
              <a:gdLst/>
              <a:ahLst/>
              <a:cxnLst/>
              <a:rect r="r" b="b" t="t" l="l"/>
              <a:pathLst>
                <a:path h="2341753" w="13420725">
                  <a:moveTo>
                    <a:pt x="0" y="38989"/>
                  </a:moveTo>
                  <a:cubicBezTo>
                    <a:pt x="0" y="17399"/>
                    <a:pt x="17399" y="0"/>
                    <a:pt x="38989" y="0"/>
                  </a:cubicBezTo>
                  <a:lnTo>
                    <a:pt x="13381737" y="0"/>
                  </a:lnTo>
                  <a:cubicBezTo>
                    <a:pt x="13403326" y="0"/>
                    <a:pt x="13420725" y="17399"/>
                    <a:pt x="13420725" y="38989"/>
                  </a:cubicBezTo>
                  <a:lnTo>
                    <a:pt x="13420725" y="2302764"/>
                  </a:lnTo>
                  <a:cubicBezTo>
                    <a:pt x="13420725" y="2324354"/>
                    <a:pt x="13403326" y="2341753"/>
                    <a:pt x="13381737" y="2341753"/>
                  </a:cubicBezTo>
                  <a:lnTo>
                    <a:pt x="38989" y="2341753"/>
                  </a:lnTo>
                  <a:cubicBezTo>
                    <a:pt x="17399" y="2341753"/>
                    <a:pt x="0" y="2324354"/>
                    <a:pt x="0" y="2302764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77043" y="6216996"/>
            <a:ext cx="584749" cy="584749"/>
            <a:chOff x="0" y="0"/>
            <a:chExt cx="779666" cy="77966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779653" cy="779653"/>
            </a:xfrm>
            <a:custGeom>
              <a:avLst/>
              <a:gdLst/>
              <a:ahLst/>
              <a:cxnLst/>
              <a:rect r="r" b="b" t="t" l="l"/>
              <a:pathLst>
                <a:path h="779653" w="779653">
                  <a:moveTo>
                    <a:pt x="0" y="0"/>
                  </a:moveTo>
                  <a:lnTo>
                    <a:pt x="779653" y="0"/>
                  </a:lnTo>
                  <a:lnTo>
                    <a:pt x="779653" y="779653"/>
                  </a:lnTo>
                  <a:lnTo>
                    <a:pt x="0" y="77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" b="-1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877043" y="6926161"/>
            <a:ext cx="2436609" cy="31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Curiosity &amp; Rewards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77043" y="7282463"/>
            <a:ext cx="9675914" cy="30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"You've won a prize!" — luring victims with false incentives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82228" y="7912446"/>
            <a:ext cx="10065544" cy="1756324"/>
            <a:chOff x="0" y="0"/>
            <a:chExt cx="13420725" cy="234176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420725" cy="2341753"/>
            </a:xfrm>
            <a:custGeom>
              <a:avLst/>
              <a:gdLst/>
              <a:ahLst/>
              <a:cxnLst/>
              <a:rect r="r" b="b" t="t" l="l"/>
              <a:pathLst>
                <a:path h="2341753" w="13420725">
                  <a:moveTo>
                    <a:pt x="0" y="38989"/>
                  </a:moveTo>
                  <a:cubicBezTo>
                    <a:pt x="0" y="17399"/>
                    <a:pt x="17399" y="0"/>
                    <a:pt x="38989" y="0"/>
                  </a:cubicBezTo>
                  <a:lnTo>
                    <a:pt x="13381737" y="0"/>
                  </a:lnTo>
                  <a:cubicBezTo>
                    <a:pt x="13403326" y="0"/>
                    <a:pt x="13420725" y="17399"/>
                    <a:pt x="13420725" y="38989"/>
                  </a:cubicBezTo>
                  <a:lnTo>
                    <a:pt x="13420725" y="2302764"/>
                  </a:lnTo>
                  <a:cubicBezTo>
                    <a:pt x="13420725" y="2324354"/>
                    <a:pt x="13403326" y="2341753"/>
                    <a:pt x="13381737" y="2341753"/>
                  </a:cubicBezTo>
                  <a:lnTo>
                    <a:pt x="38989" y="2341753"/>
                  </a:lnTo>
                  <a:cubicBezTo>
                    <a:pt x="17399" y="2341753"/>
                    <a:pt x="0" y="2324354"/>
                    <a:pt x="0" y="2302764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77043" y="8107261"/>
            <a:ext cx="584749" cy="584749"/>
            <a:chOff x="0" y="0"/>
            <a:chExt cx="779666" cy="779666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779653" cy="779653"/>
            </a:xfrm>
            <a:custGeom>
              <a:avLst/>
              <a:gdLst/>
              <a:ahLst/>
              <a:cxnLst/>
              <a:rect r="r" b="b" t="t" l="l"/>
              <a:pathLst>
                <a:path h="779653" w="779653">
                  <a:moveTo>
                    <a:pt x="0" y="0"/>
                  </a:moveTo>
                  <a:lnTo>
                    <a:pt x="779653" y="0"/>
                  </a:lnTo>
                  <a:lnTo>
                    <a:pt x="779653" y="779653"/>
                  </a:lnTo>
                  <a:lnTo>
                    <a:pt x="0" y="779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1" b="-1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877043" y="8816426"/>
            <a:ext cx="2436609" cy="31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Helpfulness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77043" y="9172727"/>
            <a:ext cx="9675914" cy="30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Exploiting your desire to assist — "Can you reset my password?"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9911" y="681780"/>
            <a:ext cx="2335559" cy="403917"/>
            <a:chOff x="0" y="0"/>
            <a:chExt cx="3114078" cy="5385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14040" cy="538480"/>
            </a:xfrm>
            <a:custGeom>
              <a:avLst/>
              <a:gdLst/>
              <a:ahLst/>
              <a:cxnLst/>
              <a:rect r="r" b="b" t="t" l="l"/>
              <a:pathLst>
                <a:path h="538480" w="3114040">
                  <a:moveTo>
                    <a:pt x="0" y="35560"/>
                  </a:moveTo>
                  <a:cubicBezTo>
                    <a:pt x="0" y="15875"/>
                    <a:pt x="15875" y="0"/>
                    <a:pt x="35560" y="0"/>
                  </a:cubicBezTo>
                  <a:lnTo>
                    <a:pt x="3078480" y="0"/>
                  </a:lnTo>
                  <a:cubicBezTo>
                    <a:pt x="3098165" y="0"/>
                    <a:pt x="3114040" y="15875"/>
                    <a:pt x="3114040" y="35560"/>
                  </a:cubicBezTo>
                  <a:lnTo>
                    <a:pt x="3114040" y="502920"/>
                  </a:lnTo>
                  <a:cubicBezTo>
                    <a:pt x="3114040" y="522605"/>
                    <a:pt x="3098165" y="538480"/>
                    <a:pt x="3078480" y="538480"/>
                  </a:cubicBezTo>
                  <a:lnTo>
                    <a:pt x="35560" y="538480"/>
                  </a:lnTo>
                  <a:cubicBezTo>
                    <a:pt x="15875" y="538480"/>
                    <a:pt x="0" y="522605"/>
                    <a:pt x="0" y="50292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76" r="-1" b="-62690"/>
              </a:stretch>
            </a:blipFill>
            <a:ln w="9526" cap="sq">
              <a:solidFill>
                <a:srgbClr val="3257B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794424" y="732530"/>
            <a:ext cx="2960932" cy="27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sz="1300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CHAPTER 7 · CASE STUDY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4673" y="1137790"/>
            <a:ext cx="8645128" cy="68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Real-World Phishing Example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54673" y="2261892"/>
            <a:ext cx="9550594" cy="5411991"/>
            <a:chOff x="0" y="0"/>
            <a:chExt cx="12734125" cy="721598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2734163" cy="7216013"/>
            </a:xfrm>
            <a:custGeom>
              <a:avLst/>
              <a:gdLst/>
              <a:ahLst/>
              <a:cxnLst/>
              <a:rect r="r" b="b" t="t" l="l"/>
              <a:pathLst>
                <a:path h="7216013" w="12734163">
                  <a:moveTo>
                    <a:pt x="0" y="0"/>
                  </a:moveTo>
                  <a:lnTo>
                    <a:pt x="12734163" y="0"/>
                  </a:lnTo>
                  <a:lnTo>
                    <a:pt x="12734163" y="7216013"/>
                  </a:lnTo>
                  <a:lnTo>
                    <a:pt x="0" y="721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2" t="0" r="-3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744325" y="3442992"/>
            <a:ext cx="4461567" cy="348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The 2016 DNC Email Breach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44325" y="3910013"/>
            <a:ext cx="4898231" cy="1273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One of the most impactful phishing attacks in history. Russian attackers sent a single spear-phishing email to a DNC staffer, compromising thousands of emails.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744325" y="5370909"/>
            <a:ext cx="4898231" cy="1091508"/>
            <a:chOff x="0" y="0"/>
            <a:chExt cx="6530975" cy="14553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30975" cy="1455420"/>
            </a:xfrm>
            <a:custGeom>
              <a:avLst/>
              <a:gdLst/>
              <a:ahLst/>
              <a:cxnLst/>
              <a:rect r="r" b="b" t="t" l="l"/>
              <a:pathLst>
                <a:path h="1455420" w="6530975">
                  <a:moveTo>
                    <a:pt x="0" y="43434"/>
                  </a:moveTo>
                  <a:cubicBezTo>
                    <a:pt x="0" y="19431"/>
                    <a:pt x="19431" y="0"/>
                    <a:pt x="43434" y="0"/>
                  </a:cubicBezTo>
                  <a:lnTo>
                    <a:pt x="6487541" y="0"/>
                  </a:lnTo>
                  <a:cubicBezTo>
                    <a:pt x="6511544" y="0"/>
                    <a:pt x="6530975" y="19431"/>
                    <a:pt x="6530975" y="43434"/>
                  </a:cubicBezTo>
                  <a:lnTo>
                    <a:pt x="6530975" y="1411986"/>
                  </a:lnTo>
                  <a:cubicBezTo>
                    <a:pt x="6530975" y="1435989"/>
                    <a:pt x="6511544" y="1455420"/>
                    <a:pt x="6487541" y="1455420"/>
                  </a:cubicBezTo>
                  <a:lnTo>
                    <a:pt x="43434" y="1455420"/>
                  </a:lnTo>
                  <a:cubicBezTo>
                    <a:pt x="19431" y="1455420"/>
                    <a:pt x="0" y="1435989"/>
                    <a:pt x="0" y="1411986"/>
                  </a:cubicBezTo>
                  <a:close/>
                </a:path>
              </a:pathLst>
            </a:custGeom>
            <a:solidFill>
              <a:srgbClr val="C3CFE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961314" y="5671242"/>
            <a:ext cx="271310" cy="216989"/>
            <a:chOff x="0" y="0"/>
            <a:chExt cx="361747" cy="289319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361696" cy="289306"/>
            </a:xfrm>
            <a:custGeom>
              <a:avLst/>
              <a:gdLst/>
              <a:ahLst/>
              <a:cxnLst/>
              <a:rect r="r" b="b" t="t" l="l"/>
              <a:pathLst>
                <a:path h="289306" w="361696">
                  <a:moveTo>
                    <a:pt x="0" y="0"/>
                  </a:moveTo>
                  <a:lnTo>
                    <a:pt x="361696" y="0"/>
                  </a:lnTo>
                  <a:lnTo>
                    <a:pt x="361696" y="289306"/>
                  </a:lnTo>
                  <a:lnTo>
                    <a:pt x="0" y="289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352" r="-14" b="-136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449623" y="5543550"/>
            <a:ext cx="3975945" cy="66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Lesson:</a:t>
            </a:r>
            <a:r>
              <a:rPr lang="en-US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One click by one person can compromise an entire organization.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640386" y="8033442"/>
            <a:ext cx="4910585" cy="1581150"/>
            <a:chOff x="0" y="0"/>
            <a:chExt cx="6547447" cy="2108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47485" cy="2108200"/>
            </a:xfrm>
            <a:custGeom>
              <a:avLst/>
              <a:gdLst/>
              <a:ahLst/>
              <a:cxnLst/>
              <a:rect r="r" b="b" t="t" l="l"/>
              <a:pathLst>
                <a:path h="2108200" w="6547485">
                  <a:moveTo>
                    <a:pt x="0" y="44196"/>
                  </a:moveTo>
                  <a:cubicBezTo>
                    <a:pt x="0" y="19812"/>
                    <a:pt x="19812" y="0"/>
                    <a:pt x="44196" y="0"/>
                  </a:cubicBezTo>
                  <a:lnTo>
                    <a:pt x="6503289" y="0"/>
                  </a:lnTo>
                  <a:cubicBezTo>
                    <a:pt x="6527673" y="0"/>
                    <a:pt x="6547485" y="19812"/>
                    <a:pt x="6547485" y="44196"/>
                  </a:cubicBezTo>
                  <a:lnTo>
                    <a:pt x="6547485" y="2064004"/>
                  </a:lnTo>
                  <a:cubicBezTo>
                    <a:pt x="6547485" y="2088388"/>
                    <a:pt x="6527673" y="2108200"/>
                    <a:pt x="6503289" y="2108200"/>
                  </a:cubicBezTo>
                  <a:lnTo>
                    <a:pt x="44196" y="2108200"/>
                  </a:lnTo>
                  <a:cubicBezTo>
                    <a:pt x="19812" y="2108200"/>
                    <a:pt x="0" y="2088388"/>
                    <a:pt x="0" y="2064004"/>
                  </a:cubicBezTo>
                  <a:close/>
                </a:path>
              </a:pathLst>
            </a:custGeom>
            <a:solidFill>
              <a:srgbClr val="FBFCFE"/>
            </a:solidFill>
            <a:ln w="28576" cap="sq">
              <a:solidFill>
                <a:srgbClr val="CFD2D8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900238" y="8283769"/>
            <a:ext cx="2713434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🎯</a:t>
            </a:r>
            <a:r>
              <a:rPr lang="en-US" sz="21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Target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00238" y="8693944"/>
            <a:ext cx="4390873" cy="35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Democratic National Committee staff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688484" y="8033442"/>
            <a:ext cx="4910738" cy="1581150"/>
            <a:chOff x="0" y="0"/>
            <a:chExt cx="6547650" cy="2108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47612" cy="2108200"/>
            </a:xfrm>
            <a:custGeom>
              <a:avLst/>
              <a:gdLst/>
              <a:ahLst/>
              <a:cxnLst/>
              <a:rect r="r" b="b" t="t" l="l"/>
              <a:pathLst>
                <a:path h="2108200" w="6547612">
                  <a:moveTo>
                    <a:pt x="0" y="44196"/>
                  </a:moveTo>
                  <a:cubicBezTo>
                    <a:pt x="0" y="19812"/>
                    <a:pt x="19812" y="0"/>
                    <a:pt x="44196" y="0"/>
                  </a:cubicBezTo>
                  <a:lnTo>
                    <a:pt x="6503416" y="0"/>
                  </a:lnTo>
                  <a:cubicBezTo>
                    <a:pt x="6527800" y="0"/>
                    <a:pt x="6547612" y="19812"/>
                    <a:pt x="6547612" y="44196"/>
                  </a:cubicBezTo>
                  <a:lnTo>
                    <a:pt x="6547612" y="2064004"/>
                  </a:lnTo>
                  <a:cubicBezTo>
                    <a:pt x="6547612" y="2088388"/>
                    <a:pt x="6527800" y="2108200"/>
                    <a:pt x="6503416" y="2108200"/>
                  </a:cubicBezTo>
                  <a:lnTo>
                    <a:pt x="44196" y="2108200"/>
                  </a:lnTo>
                  <a:cubicBezTo>
                    <a:pt x="19812" y="2108200"/>
                    <a:pt x="0" y="2088388"/>
                    <a:pt x="0" y="2064004"/>
                  </a:cubicBezTo>
                  <a:close/>
                </a:path>
              </a:pathLst>
            </a:custGeom>
            <a:solidFill>
              <a:srgbClr val="FBFCFE"/>
            </a:solidFill>
            <a:ln w="28576" cap="sq">
              <a:solidFill>
                <a:srgbClr val="CFD2D8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6948335" y="8283769"/>
            <a:ext cx="2713434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📩</a:t>
            </a:r>
            <a:r>
              <a:rPr lang="en-US" sz="21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Method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48335" y="8693944"/>
            <a:ext cx="4391025" cy="66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Spear-phishing email with malicious attachment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736734" y="8033442"/>
            <a:ext cx="4910738" cy="1581150"/>
            <a:chOff x="0" y="0"/>
            <a:chExt cx="6547650" cy="2108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47612" cy="2108200"/>
            </a:xfrm>
            <a:custGeom>
              <a:avLst/>
              <a:gdLst/>
              <a:ahLst/>
              <a:cxnLst/>
              <a:rect r="r" b="b" t="t" l="l"/>
              <a:pathLst>
                <a:path h="2108200" w="6547612">
                  <a:moveTo>
                    <a:pt x="0" y="44196"/>
                  </a:moveTo>
                  <a:cubicBezTo>
                    <a:pt x="0" y="19812"/>
                    <a:pt x="19812" y="0"/>
                    <a:pt x="44196" y="0"/>
                  </a:cubicBezTo>
                  <a:lnTo>
                    <a:pt x="6503416" y="0"/>
                  </a:lnTo>
                  <a:cubicBezTo>
                    <a:pt x="6527800" y="0"/>
                    <a:pt x="6547612" y="19812"/>
                    <a:pt x="6547612" y="44196"/>
                  </a:cubicBezTo>
                  <a:lnTo>
                    <a:pt x="6547612" y="2064004"/>
                  </a:lnTo>
                  <a:cubicBezTo>
                    <a:pt x="6547612" y="2088388"/>
                    <a:pt x="6527800" y="2108200"/>
                    <a:pt x="6503416" y="2108200"/>
                  </a:cubicBezTo>
                  <a:lnTo>
                    <a:pt x="44196" y="2108200"/>
                  </a:lnTo>
                  <a:cubicBezTo>
                    <a:pt x="19812" y="2108200"/>
                    <a:pt x="0" y="2088388"/>
                    <a:pt x="0" y="2064004"/>
                  </a:cubicBezTo>
                  <a:close/>
                </a:path>
              </a:pathLst>
            </a:custGeom>
            <a:solidFill>
              <a:srgbClr val="FBFCFE"/>
            </a:solidFill>
            <a:ln w="28576" cap="sq">
              <a:solidFill>
                <a:srgbClr val="CFD2D8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1996585" y="8283769"/>
            <a:ext cx="2713434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💥</a:t>
            </a:r>
            <a:r>
              <a:rPr lang="en-US" sz="21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Impact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96585" y="8693944"/>
            <a:ext cx="4391025" cy="354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20,000+ emails leaked; major political fallout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91368" y="704259"/>
            <a:ext cx="1270997" cy="433835"/>
            <a:chOff x="0" y="0"/>
            <a:chExt cx="1694663" cy="5784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94688" cy="578485"/>
            </a:xfrm>
            <a:custGeom>
              <a:avLst/>
              <a:gdLst/>
              <a:ahLst/>
              <a:cxnLst/>
              <a:rect r="r" b="b" t="t" l="l"/>
              <a:pathLst>
                <a:path h="578485" w="1694688">
                  <a:moveTo>
                    <a:pt x="0" y="37719"/>
                  </a:moveTo>
                  <a:cubicBezTo>
                    <a:pt x="0" y="16891"/>
                    <a:pt x="16891" y="0"/>
                    <a:pt x="37719" y="0"/>
                  </a:cubicBezTo>
                  <a:lnTo>
                    <a:pt x="1656969" y="0"/>
                  </a:lnTo>
                  <a:cubicBezTo>
                    <a:pt x="1677797" y="0"/>
                    <a:pt x="1694688" y="16891"/>
                    <a:pt x="1694688" y="37719"/>
                  </a:cubicBezTo>
                  <a:lnTo>
                    <a:pt x="1694688" y="540766"/>
                  </a:lnTo>
                  <a:cubicBezTo>
                    <a:pt x="1694688" y="561594"/>
                    <a:pt x="1677797" y="578485"/>
                    <a:pt x="1656969" y="578485"/>
                  </a:cubicBezTo>
                  <a:lnTo>
                    <a:pt x="37719" y="578485"/>
                  </a:lnTo>
                  <a:cubicBezTo>
                    <a:pt x="16891" y="578485"/>
                    <a:pt x="0" y="561594"/>
                    <a:pt x="0" y="54076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84" r="1" b="-7077"/>
              </a:stretch>
            </a:blipFill>
            <a:ln w="9526" cap="sq">
              <a:solidFill>
                <a:srgbClr val="3257B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343768" y="739969"/>
            <a:ext cx="1880587" cy="31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"/>
              </a:lnSpc>
            </a:pPr>
            <a:r>
              <a:rPr lang="en-US" sz="1399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CHAPTER 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6130" y="1189139"/>
            <a:ext cx="8343605" cy="73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Best Practices &amp; Prevention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6130" y="2151612"/>
            <a:ext cx="16809987" cy="39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Protecting yourself takes just a few consistent habits. Make these your daily cybersecurity routine.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96130" y="2753173"/>
            <a:ext cx="1671190" cy="1671190"/>
            <a:chOff x="0" y="0"/>
            <a:chExt cx="2228253" cy="2228253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2228215" cy="2228215"/>
            </a:xfrm>
            <a:custGeom>
              <a:avLst/>
              <a:gdLst/>
              <a:ahLst/>
              <a:cxnLst/>
              <a:rect r="r" b="b" t="t" l="l"/>
              <a:pathLst>
                <a:path h="2228215" w="2228215">
                  <a:moveTo>
                    <a:pt x="0" y="0"/>
                  </a:moveTo>
                  <a:lnTo>
                    <a:pt x="2228215" y="0"/>
                  </a:lnTo>
                  <a:lnTo>
                    <a:pt x="2228215" y="2228215"/>
                  </a:lnTo>
                  <a:lnTo>
                    <a:pt x="0" y="2228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96130" y="4648791"/>
            <a:ext cx="3595535" cy="36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Verify Before You Respond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6130" y="5073253"/>
            <a:ext cx="3798389" cy="72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Double-check sender addresses and question unexpected requests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228482" y="2753173"/>
            <a:ext cx="1671190" cy="1671190"/>
            <a:chOff x="0" y="0"/>
            <a:chExt cx="2228253" cy="2228253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2228215" cy="2228215"/>
            </a:xfrm>
            <a:custGeom>
              <a:avLst/>
              <a:gdLst/>
              <a:ahLst/>
              <a:cxnLst/>
              <a:rect r="r" b="b" t="t" l="l"/>
              <a:pathLst>
                <a:path h="2228215" w="2228215">
                  <a:moveTo>
                    <a:pt x="0" y="0"/>
                  </a:moveTo>
                  <a:lnTo>
                    <a:pt x="2228215" y="0"/>
                  </a:lnTo>
                  <a:lnTo>
                    <a:pt x="2228215" y="2228215"/>
                  </a:lnTo>
                  <a:lnTo>
                    <a:pt x="0" y="2228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228482" y="4648791"/>
            <a:ext cx="2879522" cy="36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Check Every URL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28482" y="5073253"/>
            <a:ext cx="3798389" cy="72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Hover over links and confirm the domain is legitimate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60834" y="2753173"/>
            <a:ext cx="1671190" cy="1671190"/>
            <a:chOff x="0" y="0"/>
            <a:chExt cx="2228253" cy="2228253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2228215" cy="2228215"/>
            </a:xfrm>
            <a:custGeom>
              <a:avLst/>
              <a:gdLst/>
              <a:ahLst/>
              <a:cxnLst/>
              <a:rect r="r" b="b" t="t" l="l"/>
              <a:pathLst>
                <a:path h="2228215" w="2228215">
                  <a:moveTo>
                    <a:pt x="0" y="0"/>
                  </a:moveTo>
                  <a:lnTo>
                    <a:pt x="2228215" y="0"/>
                  </a:lnTo>
                  <a:lnTo>
                    <a:pt x="2228215" y="2228215"/>
                  </a:lnTo>
                  <a:lnTo>
                    <a:pt x="0" y="2228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-1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260834" y="4648791"/>
            <a:ext cx="3017339" cy="36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Use Strong Passwords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60834" y="5073253"/>
            <a:ext cx="3798389" cy="72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Unique, long passwords for every account — use a password manager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293176" y="2753173"/>
            <a:ext cx="1671342" cy="1671342"/>
            <a:chOff x="0" y="0"/>
            <a:chExt cx="2228456" cy="2228456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2228469" cy="2228469"/>
            </a:xfrm>
            <a:custGeom>
              <a:avLst/>
              <a:gdLst/>
              <a:ahLst/>
              <a:cxnLst/>
              <a:rect r="r" b="b" t="t" l="l"/>
              <a:pathLst>
                <a:path h="2228469" w="2228469">
                  <a:moveTo>
                    <a:pt x="0" y="0"/>
                  </a:moveTo>
                  <a:lnTo>
                    <a:pt x="2228469" y="0"/>
                  </a:lnTo>
                  <a:lnTo>
                    <a:pt x="2228469" y="2228469"/>
                  </a:lnTo>
                  <a:lnTo>
                    <a:pt x="0" y="2228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293176" y="4648943"/>
            <a:ext cx="2879522" cy="36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Enable MFA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93176" y="5073406"/>
            <a:ext cx="3798541" cy="72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Multi-Factor Authentication blocks 99% of automated attacks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96130" y="6172800"/>
            <a:ext cx="1671190" cy="1671190"/>
            <a:chOff x="0" y="0"/>
            <a:chExt cx="2228253" cy="2228253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2228215" cy="2228215"/>
            </a:xfrm>
            <a:custGeom>
              <a:avLst/>
              <a:gdLst/>
              <a:ahLst/>
              <a:cxnLst/>
              <a:rect r="r" b="b" t="t" l="l"/>
              <a:pathLst>
                <a:path h="2228215" w="2228215">
                  <a:moveTo>
                    <a:pt x="0" y="0"/>
                  </a:moveTo>
                  <a:lnTo>
                    <a:pt x="2228215" y="0"/>
                  </a:lnTo>
                  <a:lnTo>
                    <a:pt x="2228215" y="2228215"/>
                  </a:lnTo>
                  <a:lnTo>
                    <a:pt x="0" y="2228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-1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96130" y="8068418"/>
            <a:ext cx="3798389" cy="72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Report Suspicious Messages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6130" y="8852745"/>
            <a:ext cx="3798389" cy="72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Flag phishing attempts to your IT team or email provider immediately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CF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3739" y="755599"/>
            <a:ext cx="2197598" cy="456905"/>
            <a:chOff x="0" y="0"/>
            <a:chExt cx="2930131" cy="6092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30144" cy="609219"/>
            </a:xfrm>
            <a:custGeom>
              <a:avLst/>
              <a:gdLst/>
              <a:ahLst/>
              <a:cxnLst/>
              <a:rect r="r" b="b" t="t" l="l"/>
              <a:pathLst>
                <a:path h="609219" w="2930144">
                  <a:moveTo>
                    <a:pt x="0" y="40386"/>
                  </a:moveTo>
                  <a:cubicBezTo>
                    <a:pt x="0" y="18034"/>
                    <a:pt x="18034" y="0"/>
                    <a:pt x="40386" y="0"/>
                  </a:cubicBezTo>
                  <a:lnTo>
                    <a:pt x="2889758" y="0"/>
                  </a:lnTo>
                  <a:cubicBezTo>
                    <a:pt x="2912110" y="0"/>
                    <a:pt x="2930144" y="18034"/>
                    <a:pt x="2930144" y="40386"/>
                  </a:cubicBezTo>
                  <a:lnTo>
                    <a:pt x="2930144" y="568833"/>
                  </a:lnTo>
                  <a:cubicBezTo>
                    <a:pt x="2930144" y="591185"/>
                    <a:pt x="2912110" y="609219"/>
                    <a:pt x="2889758" y="609219"/>
                  </a:cubicBezTo>
                  <a:lnTo>
                    <a:pt x="40386" y="609219"/>
                  </a:lnTo>
                  <a:cubicBezTo>
                    <a:pt x="18034" y="609219"/>
                    <a:pt x="0" y="591058"/>
                    <a:pt x="0" y="568833"/>
                  </a:cubicBezTo>
                  <a:close/>
                </a:path>
              </a:pathLst>
            </a:custGeom>
            <a:solidFill>
              <a:srgbClr val="D7DFF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35244" y="774202"/>
            <a:ext cx="2808980" cy="36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KNOWLEDGE CHECK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3739" y="1283341"/>
            <a:ext cx="7621343" cy="80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5"/>
              </a:lnSpc>
            </a:pPr>
            <a:r>
              <a:rPr lang="en-US" sz="49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Quiz &amp; Key Takeaways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3739" y="2653608"/>
            <a:ext cx="4070899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🧠</a:t>
            </a:r>
            <a:r>
              <a:rPr lang="en-US" sz="24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Quick Quiz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69452" y="3675164"/>
            <a:ext cx="3892153" cy="3100388"/>
            <a:chOff x="0" y="0"/>
            <a:chExt cx="5189538" cy="41338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89474" cy="4133850"/>
            </a:xfrm>
            <a:custGeom>
              <a:avLst/>
              <a:gdLst/>
              <a:ahLst/>
              <a:cxnLst/>
              <a:rect r="r" b="b" t="t" l="l"/>
              <a:pathLst>
                <a:path h="4133850" w="5189474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5004943" y="0"/>
                  </a:lnTo>
                  <a:cubicBezTo>
                    <a:pt x="5106924" y="0"/>
                    <a:pt x="5189474" y="82677"/>
                    <a:pt x="5189474" y="184531"/>
                  </a:cubicBezTo>
                  <a:lnTo>
                    <a:pt x="5189474" y="3949319"/>
                  </a:lnTo>
                  <a:cubicBezTo>
                    <a:pt x="5189474" y="4051300"/>
                    <a:pt x="5106797" y="4133850"/>
                    <a:pt x="5004943" y="4133850"/>
                  </a:cubicBezTo>
                  <a:lnTo>
                    <a:pt x="184531" y="4133850"/>
                  </a:lnTo>
                  <a:cubicBezTo>
                    <a:pt x="82677" y="4133850"/>
                    <a:pt x="0" y="4051173"/>
                    <a:pt x="0" y="3949319"/>
                  </a:cubicBezTo>
                  <a:close/>
                </a:path>
              </a:pathLst>
            </a:custGeom>
            <a:solidFill>
              <a:srgbClr val="FBFCFE"/>
            </a:solidFill>
            <a:ln w="28576" cap="sq">
              <a:solidFill>
                <a:srgbClr val="CFD2D8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83739" y="3660877"/>
            <a:ext cx="3863578" cy="114300"/>
            <a:chOff x="0" y="0"/>
            <a:chExt cx="5151438" cy="15240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5151374" cy="152400"/>
            </a:xfrm>
            <a:custGeom>
              <a:avLst/>
              <a:gdLst/>
              <a:ahLst/>
              <a:cxnLst/>
              <a:rect r="r" b="b" t="t" l="l"/>
              <a:pathLst>
                <a:path h="152400" w="5151374">
                  <a:moveTo>
                    <a:pt x="0" y="0"/>
                  </a:moveTo>
                  <a:lnTo>
                    <a:pt x="5151374" y="0"/>
                  </a:lnTo>
                  <a:lnTo>
                    <a:pt x="5151374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6" t="0" r="-47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436762" y="3310680"/>
            <a:ext cx="757533" cy="757533"/>
            <a:chOff x="0" y="0"/>
            <a:chExt cx="1010044" cy="1010044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010031" cy="1010031"/>
            </a:xfrm>
            <a:custGeom>
              <a:avLst/>
              <a:gdLst/>
              <a:ahLst/>
              <a:cxnLst/>
              <a:rect r="r" b="b" t="t" l="l"/>
              <a:pathLst>
                <a:path h="1010031" w="1010031">
                  <a:moveTo>
                    <a:pt x="0" y="0"/>
                  </a:moveTo>
                  <a:lnTo>
                    <a:pt x="1010031" y="0"/>
                  </a:lnTo>
                  <a:lnTo>
                    <a:pt x="1010031" y="1010031"/>
                  </a:lnTo>
                  <a:lnTo>
                    <a:pt x="0" y="1010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664028" y="3499990"/>
            <a:ext cx="303009" cy="378771"/>
            <a:chOff x="0" y="0"/>
            <a:chExt cx="404012" cy="5050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4019" cy="505024"/>
            </a:xfrm>
            <a:custGeom>
              <a:avLst/>
              <a:gdLst/>
              <a:ahLst/>
              <a:cxnLst/>
              <a:rect r="r" b="b" t="t" l="l"/>
              <a:pathLst>
                <a:path h="505024" w="404019">
                  <a:moveTo>
                    <a:pt x="0" y="0"/>
                  </a:moveTo>
                  <a:lnTo>
                    <a:pt x="404019" y="0"/>
                  </a:lnTo>
                  <a:lnTo>
                    <a:pt x="404019" y="505024"/>
                  </a:lnTo>
                  <a:lnTo>
                    <a:pt x="0" y="5050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81" t="0" r="-11038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404012" cy="495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64727" y="4320626"/>
            <a:ext cx="3301603" cy="78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Most common phishing method?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4727" y="5267925"/>
            <a:ext cx="3301603" cy="1212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Email Phishing</a:t>
            </a:r>
            <a:r>
              <a:rPr lang="en-US" sz="19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accounts for the vast majority of attacks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957905" y="3675164"/>
            <a:ext cx="3892306" cy="3100388"/>
            <a:chOff x="0" y="0"/>
            <a:chExt cx="5189741" cy="41338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89728" cy="4133850"/>
            </a:xfrm>
            <a:custGeom>
              <a:avLst/>
              <a:gdLst/>
              <a:ahLst/>
              <a:cxnLst/>
              <a:rect r="r" b="b" t="t" l="l"/>
              <a:pathLst>
                <a:path h="4133850" w="5189728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5005197" y="0"/>
                  </a:lnTo>
                  <a:cubicBezTo>
                    <a:pt x="5107178" y="0"/>
                    <a:pt x="5189728" y="82677"/>
                    <a:pt x="5189728" y="184531"/>
                  </a:cubicBezTo>
                  <a:lnTo>
                    <a:pt x="5189728" y="3949319"/>
                  </a:lnTo>
                  <a:cubicBezTo>
                    <a:pt x="5189728" y="4051300"/>
                    <a:pt x="5107051" y="4133850"/>
                    <a:pt x="5005197" y="4133850"/>
                  </a:cubicBezTo>
                  <a:lnTo>
                    <a:pt x="184531" y="4133850"/>
                  </a:lnTo>
                  <a:cubicBezTo>
                    <a:pt x="82677" y="4133850"/>
                    <a:pt x="0" y="4051173"/>
                    <a:pt x="0" y="3949319"/>
                  </a:cubicBezTo>
                  <a:close/>
                </a:path>
              </a:pathLst>
            </a:custGeom>
            <a:solidFill>
              <a:srgbClr val="FBFCFE"/>
            </a:solidFill>
            <a:ln w="28576" cap="sq">
              <a:solidFill>
                <a:srgbClr val="CFD2D8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972202" y="3660877"/>
            <a:ext cx="3863731" cy="114300"/>
            <a:chOff x="0" y="0"/>
            <a:chExt cx="5151641" cy="1524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5151628" cy="152400"/>
            </a:xfrm>
            <a:custGeom>
              <a:avLst/>
              <a:gdLst/>
              <a:ahLst/>
              <a:cxnLst/>
              <a:rect r="r" b="b" t="t" l="l"/>
              <a:pathLst>
                <a:path h="152400" w="5151628">
                  <a:moveTo>
                    <a:pt x="0" y="0"/>
                  </a:moveTo>
                  <a:lnTo>
                    <a:pt x="5151628" y="0"/>
                  </a:lnTo>
                  <a:lnTo>
                    <a:pt x="5151628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4" t="0" r="-44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525216" y="3310680"/>
            <a:ext cx="757533" cy="757533"/>
            <a:chOff x="0" y="0"/>
            <a:chExt cx="1010044" cy="1010044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010031" cy="1010031"/>
            </a:xfrm>
            <a:custGeom>
              <a:avLst/>
              <a:gdLst/>
              <a:ahLst/>
              <a:cxnLst/>
              <a:rect r="r" b="b" t="t" l="l"/>
              <a:pathLst>
                <a:path h="1010031" w="1010031">
                  <a:moveTo>
                    <a:pt x="0" y="0"/>
                  </a:moveTo>
                  <a:lnTo>
                    <a:pt x="1010031" y="0"/>
                  </a:lnTo>
                  <a:lnTo>
                    <a:pt x="1010031" y="1010031"/>
                  </a:lnTo>
                  <a:lnTo>
                    <a:pt x="0" y="1010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752482" y="3499990"/>
            <a:ext cx="303009" cy="378771"/>
            <a:chOff x="0" y="0"/>
            <a:chExt cx="404012" cy="5050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4019" cy="505024"/>
            </a:xfrm>
            <a:custGeom>
              <a:avLst/>
              <a:gdLst/>
              <a:ahLst/>
              <a:cxnLst/>
              <a:rect r="r" b="b" t="t" l="l"/>
              <a:pathLst>
                <a:path h="505024" w="404019">
                  <a:moveTo>
                    <a:pt x="0" y="0"/>
                  </a:moveTo>
                  <a:lnTo>
                    <a:pt x="404019" y="0"/>
                  </a:lnTo>
                  <a:lnTo>
                    <a:pt x="404019" y="505024"/>
                  </a:lnTo>
                  <a:lnTo>
                    <a:pt x="0" y="5050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81" t="0" r="-11038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404012" cy="495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2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253190" y="4320626"/>
            <a:ext cx="3301756" cy="78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Check before clicking a link?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253190" y="5267925"/>
            <a:ext cx="3301756" cy="83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The URL</a:t>
            </a:r>
            <a:r>
              <a:rPr lang="en-US" sz="19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always verify the domain name first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69452" y="7350623"/>
            <a:ext cx="7980759" cy="1942062"/>
            <a:chOff x="0" y="0"/>
            <a:chExt cx="10641012" cy="25894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640949" cy="2589403"/>
            </a:xfrm>
            <a:custGeom>
              <a:avLst/>
              <a:gdLst/>
              <a:ahLst/>
              <a:cxnLst/>
              <a:rect r="r" b="b" t="t" l="l"/>
              <a:pathLst>
                <a:path h="2589403" w="10640949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10455402" y="0"/>
                  </a:lnTo>
                  <a:cubicBezTo>
                    <a:pt x="10557891" y="0"/>
                    <a:pt x="10640949" y="83058"/>
                    <a:pt x="10640949" y="185547"/>
                  </a:cubicBezTo>
                  <a:lnTo>
                    <a:pt x="10640949" y="2403856"/>
                  </a:lnTo>
                  <a:cubicBezTo>
                    <a:pt x="10640949" y="2506345"/>
                    <a:pt x="10557891" y="2589403"/>
                    <a:pt x="10455402" y="2589403"/>
                  </a:cubicBezTo>
                  <a:lnTo>
                    <a:pt x="185547" y="2589403"/>
                  </a:lnTo>
                  <a:cubicBezTo>
                    <a:pt x="83058" y="2589403"/>
                    <a:pt x="0" y="2506345"/>
                    <a:pt x="0" y="2403856"/>
                  </a:cubicBezTo>
                  <a:close/>
                </a:path>
              </a:pathLst>
            </a:custGeom>
            <a:solidFill>
              <a:srgbClr val="FBFCFE"/>
            </a:solidFill>
            <a:ln w="28576" cap="sq">
              <a:solidFill>
                <a:srgbClr val="CFD2D8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83739" y="7336336"/>
            <a:ext cx="7952184" cy="114300"/>
            <a:chOff x="0" y="0"/>
            <a:chExt cx="10602912" cy="15240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10602849" cy="152400"/>
            </a:xfrm>
            <a:custGeom>
              <a:avLst/>
              <a:gdLst/>
              <a:ahLst/>
              <a:cxnLst/>
              <a:rect r="r" b="b" t="t" l="l"/>
              <a:pathLst>
                <a:path h="152400" w="10602849">
                  <a:moveTo>
                    <a:pt x="0" y="0"/>
                  </a:moveTo>
                  <a:lnTo>
                    <a:pt x="10602849" y="0"/>
                  </a:lnTo>
                  <a:lnTo>
                    <a:pt x="10602849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" t="0" r="-8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481065" y="6986140"/>
            <a:ext cx="757533" cy="757533"/>
            <a:chOff x="0" y="0"/>
            <a:chExt cx="1010044" cy="1010044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1010031" cy="1010031"/>
            </a:xfrm>
            <a:custGeom>
              <a:avLst/>
              <a:gdLst/>
              <a:ahLst/>
              <a:cxnLst/>
              <a:rect r="r" b="b" t="t" l="l"/>
              <a:pathLst>
                <a:path h="1010031" w="1010031">
                  <a:moveTo>
                    <a:pt x="0" y="0"/>
                  </a:moveTo>
                  <a:lnTo>
                    <a:pt x="1010031" y="0"/>
                  </a:lnTo>
                  <a:lnTo>
                    <a:pt x="1010031" y="1010031"/>
                  </a:lnTo>
                  <a:lnTo>
                    <a:pt x="0" y="1010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4708322" y="7175449"/>
            <a:ext cx="303009" cy="378771"/>
            <a:chOff x="0" y="0"/>
            <a:chExt cx="404012" cy="50502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04019" cy="505024"/>
            </a:xfrm>
            <a:custGeom>
              <a:avLst/>
              <a:gdLst/>
              <a:ahLst/>
              <a:cxnLst/>
              <a:rect r="r" b="b" t="t" l="l"/>
              <a:pathLst>
                <a:path h="505024" w="404019">
                  <a:moveTo>
                    <a:pt x="0" y="0"/>
                  </a:moveTo>
                  <a:lnTo>
                    <a:pt x="404019" y="0"/>
                  </a:lnTo>
                  <a:lnTo>
                    <a:pt x="404019" y="505024"/>
                  </a:lnTo>
                  <a:lnTo>
                    <a:pt x="0" y="5050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0381" t="0" r="-11038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404012" cy="495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3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164727" y="7996085"/>
            <a:ext cx="3365744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Extra security feature?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64727" y="8548840"/>
            <a:ext cx="7390209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 b="true">
                <a:solidFill>
                  <a:srgbClr val="15213F"/>
                </a:solidFill>
                <a:latin typeface="Roboto Bold"/>
                <a:ea typeface="Roboto Bold"/>
                <a:cs typeface="Roboto Bold"/>
                <a:sym typeface="Roboto Bold"/>
              </a:rPr>
              <a:t>MFA (Multi-Factor Authentication)</a:t>
            </a:r>
            <a:r>
              <a:rPr lang="en-US" sz="19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adds a critical second layer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279731" y="2428723"/>
            <a:ext cx="8315916" cy="7102678"/>
            <a:chOff x="0" y="0"/>
            <a:chExt cx="11087887" cy="947023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087862" cy="9470136"/>
            </a:xfrm>
            <a:custGeom>
              <a:avLst/>
              <a:gdLst/>
              <a:ahLst/>
              <a:cxnLst/>
              <a:rect r="r" b="b" t="t" l="l"/>
              <a:pathLst>
                <a:path h="9470136" w="11087862">
                  <a:moveTo>
                    <a:pt x="0" y="50419"/>
                  </a:moveTo>
                  <a:cubicBezTo>
                    <a:pt x="0" y="22606"/>
                    <a:pt x="22606" y="0"/>
                    <a:pt x="50419" y="0"/>
                  </a:cubicBezTo>
                  <a:lnTo>
                    <a:pt x="11037443" y="0"/>
                  </a:lnTo>
                  <a:cubicBezTo>
                    <a:pt x="11065383" y="0"/>
                    <a:pt x="11087862" y="22606"/>
                    <a:pt x="11087862" y="50419"/>
                  </a:cubicBezTo>
                  <a:lnTo>
                    <a:pt x="11087862" y="9419717"/>
                  </a:lnTo>
                  <a:cubicBezTo>
                    <a:pt x="11087862" y="9447657"/>
                    <a:pt x="11065256" y="9470136"/>
                    <a:pt x="11037443" y="9470136"/>
                  </a:cubicBezTo>
                  <a:lnTo>
                    <a:pt x="50419" y="9470136"/>
                  </a:lnTo>
                  <a:cubicBezTo>
                    <a:pt x="22479" y="9470136"/>
                    <a:pt x="0" y="9447530"/>
                    <a:pt x="0" y="9419717"/>
                  </a:cubicBezTo>
                  <a:close/>
                </a:path>
              </a:pathLst>
            </a:custGeom>
            <a:solidFill>
              <a:srgbClr val="3257B8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532144" y="2653608"/>
            <a:ext cx="4070899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✅</a:t>
            </a:r>
            <a:r>
              <a:rPr lang="en-US" sz="24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Key Takeaways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532144" y="3310680"/>
            <a:ext cx="568081" cy="568081"/>
            <a:chOff x="0" y="0"/>
            <a:chExt cx="757441" cy="75744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57428" cy="757428"/>
            </a:xfrm>
            <a:custGeom>
              <a:avLst/>
              <a:gdLst/>
              <a:ahLst/>
              <a:cxnLst/>
              <a:rect r="r" b="b" t="t" l="l"/>
              <a:pathLst>
                <a:path h="757428" w="757428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706882" y="0"/>
                  </a:lnTo>
                  <a:cubicBezTo>
                    <a:pt x="734822" y="0"/>
                    <a:pt x="757428" y="22606"/>
                    <a:pt x="757428" y="50546"/>
                  </a:cubicBezTo>
                  <a:lnTo>
                    <a:pt x="757428" y="706882"/>
                  </a:lnTo>
                  <a:cubicBezTo>
                    <a:pt x="757428" y="734822"/>
                    <a:pt x="734822" y="757428"/>
                    <a:pt x="706882" y="757428"/>
                  </a:cubicBezTo>
                  <a:lnTo>
                    <a:pt x="50546" y="757428"/>
                  </a:lnTo>
                  <a:cubicBezTo>
                    <a:pt x="22606" y="757428"/>
                    <a:pt x="0" y="734822"/>
                    <a:pt x="0" y="706882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0325100" y="3397444"/>
            <a:ext cx="3432867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Think Before You Click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325100" y="3950198"/>
            <a:ext cx="7018144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Pause and question every unexpected message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532144" y="4848520"/>
            <a:ext cx="568081" cy="568081"/>
            <a:chOff x="0" y="0"/>
            <a:chExt cx="757441" cy="75744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57428" cy="757428"/>
            </a:xfrm>
            <a:custGeom>
              <a:avLst/>
              <a:gdLst/>
              <a:ahLst/>
              <a:cxnLst/>
              <a:rect r="r" b="b" t="t" l="l"/>
              <a:pathLst>
                <a:path h="757428" w="757428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706882" y="0"/>
                  </a:lnTo>
                  <a:cubicBezTo>
                    <a:pt x="734822" y="0"/>
                    <a:pt x="757428" y="22606"/>
                    <a:pt x="757428" y="50546"/>
                  </a:cubicBezTo>
                  <a:lnTo>
                    <a:pt x="757428" y="706882"/>
                  </a:lnTo>
                  <a:cubicBezTo>
                    <a:pt x="757428" y="734822"/>
                    <a:pt x="734822" y="757428"/>
                    <a:pt x="706882" y="757428"/>
                  </a:cubicBezTo>
                  <a:lnTo>
                    <a:pt x="50546" y="757428"/>
                  </a:lnTo>
                  <a:cubicBezTo>
                    <a:pt x="22606" y="757428"/>
                    <a:pt x="0" y="734822"/>
                    <a:pt x="0" y="706882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0325100" y="4935293"/>
            <a:ext cx="3156499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Stay Alert, Stay Safe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325100" y="5488038"/>
            <a:ext cx="7018144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Cybersecurity awareness is an ongoing habit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532144" y="6386360"/>
            <a:ext cx="568081" cy="568081"/>
            <a:chOff x="0" y="0"/>
            <a:chExt cx="757441" cy="75744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57428" cy="757428"/>
            </a:xfrm>
            <a:custGeom>
              <a:avLst/>
              <a:gdLst/>
              <a:ahLst/>
              <a:cxnLst/>
              <a:rect r="r" b="b" t="t" l="l"/>
              <a:pathLst>
                <a:path h="757428" w="757428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706882" y="0"/>
                  </a:lnTo>
                  <a:cubicBezTo>
                    <a:pt x="734822" y="0"/>
                    <a:pt x="757428" y="22606"/>
                    <a:pt x="757428" y="50546"/>
                  </a:cubicBezTo>
                  <a:lnTo>
                    <a:pt x="757428" y="706882"/>
                  </a:lnTo>
                  <a:cubicBezTo>
                    <a:pt x="757428" y="734822"/>
                    <a:pt x="734822" y="757428"/>
                    <a:pt x="706882" y="757428"/>
                  </a:cubicBezTo>
                  <a:lnTo>
                    <a:pt x="50546" y="757428"/>
                  </a:lnTo>
                  <a:cubicBezTo>
                    <a:pt x="22606" y="757428"/>
                    <a:pt x="0" y="734822"/>
                    <a:pt x="0" y="706882"/>
                  </a:cubicBezTo>
                  <a:close/>
                </a:path>
              </a:pathLst>
            </a:custGeom>
            <a:solidFill>
              <a:srgbClr val="E9ECF2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0325100" y="6473133"/>
            <a:ext cx="3826964" cy="39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Everyone's Responsibility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325100" y="7025878"/>
            <a:ext cx="7018144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 are the first line of defense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DAHLDkNmYiA</dc:identifier>
  <dcterms:modified xsi:type="dcterms:W3CDTF">2011-08-01T06:04:30Z</dcterms:modified>
  <cp:revision>1</cp:revision>
  <dc:title>Task2_PhishingAwarenessTraining.pptx</dc:title>
</cp:coreProperties>
</file>